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71" r:id="rId4"/>
    <p:sldId id="259" r:id="rId5"/>
    <p:sldId id="260" r:id="rId6"/>
    <p:sldId id="261" r:id="rId7"/>
    <p:sldId id="272" r:id="rId8"/>
    <p:sldId id="262" r:id="rId9"/>
    <p:sldId id="263" r:id="rId10"/>
    <p:sldId id="264" r:id="rId11"/>
    <p:sldId id="265" r:id="rId12"/>
    <p:sldId id="266" r:id="rId13"/>
    <p:sldId id="267" r:id="rId14"/>
    <p:sldId id="268"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680"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D10CD1ED-D792-47B0-A137-EE20A1303CD1}" type="datetimeFigureOut">
              <a:rPr lang="en-US" smtClean="0"/>
              <a:t>3/8/2021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D9EF9B1-B022-48BF-AE66-AC8A9BF55B5E}"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10CD1ED-D792-47B0-A137-EE20A1303CD1}" type="datetimeFigureOut">
              <a:rPr lang="en-US" smtClean="0"/>
              <a:t>3/8/2021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EF9B1-B022-48BF-AE66-AC8A9BF55B5E}"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10CD1ED-D792-47B0-A137-EE20A1303CD1}" type="datetimeFigureOut">
              <a:rPr lang="en-US" smtClean="0"/>
              <a:t>3/8/2021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4D9EF9B1-B022-48BF-AE66-AC8A9BF55B5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10CD1ED-D792-47B0-A137-EE20A1303CD1}" type="datetimeFigureOut">
              <a:rPr lang="en-US" smtClean="0"/>
              <a:t>3/8/2021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EF9B1-B022-48BF-AE66-AC8A9BF55B5E}"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D10CD1ED-D792-47B0-A137-EE20A1303CD1}" type="datetimeFigureOut">
              <a:rPr lang="en-US" smtClean="0"/>
              <a:t>3/8/2021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EF9B1-B022-48BF-AE66-AC8A9BF55B5E}"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10CD1ED-D792-47B0-A137-EE20A1303CD1}" type="datetimeFigureOut">
              <a:rPr lang="en-US" smtClean="0"/>
              <a:t>3/8/2021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EF9B1-B022-48BF-AE66-AC8A9BF55B5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CD1ED-D792-47B0-A137-EE20A1303CD1}" type="datetimeFigureOut">
              <a:rPr lang="en-US" smtClean="0"/>
              <a:t>3/8/2021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EF9B1-B022-48BF-AE66-AC8A9BF55B5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10CD1ED-D792-47B0-A137-EE20A1303CD1}" type="datetimeFigureOut">
              <a:rPr lang="en-US" smtClean="0"/>
              <a:t>3/8/2021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EF9B1-B022-48BF-AE66-AC8A9BF55B5E}"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10CD1ED-D792-47B0-A137-EE20A1303CD1}" type="datetimeFigureOut">
              <a:rPr lang="en-US" smtClean="0"/>
              <a:t>3/8/2021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4D9EF9B1-B022-48BF-AE66-AC8A9BF55B5E}"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0CD1ED-D792-47B0-A137-EE20A1303CD1}" type="datetimeFigureOut">
              <a:rPr lang="en-US" smtClean="0"/>
              <a:t>3/8/2021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EF9B1-B022-48BF-AE66-AC8A9BF55B5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0CD1ED-D792-47B0-A137-EE20A1303CD1}" type="datetimeFigureOut">
              <a:rPr lang="en-US" smtClean="0"/>
              <a:t>3/8/2021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EF9B1-B022-48BF-AE66-AC8A9BF55B5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D10CD1ED-D792-47B0-A137-EE20A1303CD1}" type="datetimeFigureOut">
              <a:rPr lang="en-US" smtClean="0"/>
              <a:t>3/8/2021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D9EF9B1-B022-48BF-AE66-AC8A9BF55B5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14600"/>
            <a:ext cx="8229600" cy="1143000"/>
          </a:xfrm>
        </p:spPr>
        <p:txBody>
          <a:bodyPr/>
          <a:lstStyle/>
          <a:p>
            <a:r>
              <a:rPr lang="en-US" b="1" dirty="0" smtClean="0"/>
              <a:t>Subjective Questions</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8077200" cy="1143000"/>
          </a:xfrm>
        </p:spPr>
        <p:txBody>
          <a:bodyPr>
            <a:normAutofit fontScale="90000"/>
          </a:bodyPr>
          <a:lstStyle/>
          <a:p>
            <a:r>
              <a:rPr lang="en-US" b="1" dirty="0" smtClean="0"/>
              <a:t>Assignment-based Subjective Questions</a:t>
            </a:r>
            <a:endParaRPr lang="en-US" b="1" dirty="0"/>
          </a:p>
        </p:txBody>
      </p:sp>
      <p:sp>
        <p:nvSpPr>
          <p:cNvPr id="3" name="Content Placeholder 2"/>
          <p:cNvSpPr>
            <a:spLocks noGrp="1"/>
          </p:cNvSpPr>
          <p:nvPr>
            <p:ph sz="quarter" idx="1"/>
          </p:nvPr>
        </p:nvSpPr>
        <p:spPr>
          <a:xfrm>
            <a:off x="457200" y="1219200"/>
            <a:ext cx="8229600" cy="4953000"/>
          </a:xfrm>
        </p:spPr>
        <p:txBody>
          <a:bodyPr>
            <a:normAutofit fontScale="77500" lnSpcReduction="20000"/>
          </a:bodyPr>
          <a:lstStyle/>
          <a:p>
            <a:pPr>
              <a:buNone/>
            </a:pPr>
            <a:r>
              <a:rPr lang="en-US" b="1" dirty="0" smtClean="0"/>
              <a:t>Q-1) </a:t>
            </a:r>
            <a:r>
              <a:rPr lang="en-US" sz="3600" b="1" dirty="0" smtClean="0"/>
              <a:t>From your analysis of the categorical variables from the dataset, what could you infer about their effect on the dependent variable? </a:t>
            </a:r>
          </a:p>
          <a:p>
            <a:pPr>
              <a:buNone/>
            </a:pPr>
            <a:endParaRPr lang="en-US" b="1" dirty="0" smtClean="0"/>
          </a:p>
          <a:p>
            <a:pPr>
              <a:buNone/>
            </a:pPr>
            <a:r>
              <a:rPr lang="en-US" dirty="0" smtClean="0"/>
              <a:t>1)The demand of bike is less in the month of spring when compared with other seasons</a:t>
            </a:r>
          </a:p>
          <a:p>
            <a:pPr>
              <a:buNone/>
            </a:pPr>
            <a:r>
              <a:rPr lang="en-US" dirty="0" smtClean="0"/>
              <a:t>2)The demand bike increased in the year 2019 when compared with year 2018.</a:t>
            </a:r>
          </a:p>
          <a:p>
            <a:pPr>
              <a:buNone/>
            </a:pPr>
            <a:r>
              <a:rPr lang="en-US" dirty="0" smtClean="0"/>
              <a:t>3)Month Jun to Sep is the period when bike demand is high. The Month Jan is the lowest demand month.</a:t>
            </a:r>
          </a:p>
          <a:p>
            <a:pPr>
              <a:buNone/>
            </a:pPr>
            <a:r>
              <a:rPr lang="en-US" dirty="0" smtClean="0"/>
              <a:t>4)The demand of bike is almost similar throughout the weekdays.</a:t>
            </a:r>
          </a:p>
          <a:p>
            <a:pPr>
              <a:buNone/>
            </a:pPr>
            <a:r>
              <a:rPr lang="en-US" dirty="0" smtClean="0"/>
              <a:t>5)There is no significant change in bike demand with </a:t>
            </a:r>
            <a:r>
              <a:rPr lang="en-US" dirty="0" err="1" smtClean="0"/>
              <a:t>workign</a:t>
            </a:r>
            <a:r>
              <a:rPr lang="en-US" dirty="0" smtClean="0"/>
              <a:t> day and non working day.</a:t>
            </a:r>
          </a:p>
          <a:p>
            <a:pPr>
              <a:buNone/>
            </a:pPr>
            <a:r>
              <a:rPr lang="en-US" dirty="0" smtClean="0"/>
              <a:t>6)The bike demand is high when weather is clear and Few clouds however demand is less in case of </a:t>
            </a:r>
            <a:r>
              <a:rPr lang="en-US" dirty="0" err="1" smtClean="0"/>
              <a:t>Lightsnow</a:t>
            </a:r>
            <a:r>
              <a:rPr lang="en-US" dirty="0" smtClean="0"/>
              <a:t> and light rainfall. 7)We do not have any </a:t>
            </a:r>
            <a:r>
              <a:rPr lang="en-US" dirty="0" err="1" smtClean="0"/>
              <a:t>dat</a:t>
            </a:r>
            <a:r>
              <a:rPr lang="en-US" dirty="0" smtClean="0"/>
              <a:t> for Heavy Rain + Ice Pallets + Thunderstorm + Mist, Snow + Fog , so we can not derive any conclusion. May be the company is not operating on those days or there is no demand of bike.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533400" y="609600"/>
            <a:ext cx="8216234" cy="55626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8229600" cy="4525963"/>
          </a:xfrm>
        </p:spPr>
        <p:txBody>
          <a:bodyPr>
            <a:noAutofit/>
          </a:bodyPr>
          <a:lstStyle/>
          <a:p>
            <a:pPr>
              <a:buNone/>
            </a:pPr>
            <a:r>
              <a:rPr lang="en-US" sz="2800" b="1" dirty="0" smtClean="0"/>
              <a:t>Q-2)Why is it important to use </a:t>
            </a:r>
            <a:r>
              <a:rPr lang="en-US" sz="2800" b="1" dirty="0" err="1" smtClean="0"/>
              <a:t>drop_first</a:t>
            </a:r>
            <a:r>
              <a:rPr lang="en-US" sz="2800" b="1" dirty="0" smtClean="0"/>
              <a:t>=True during dummy variable creation?</a:t>
            </a:r>
          </a:p>
          <a:p>
            <a:pPr>
              <a:buNone/>
            </a:pPr>
            <a:endParaRPr lang="en-US" sz="2400" b="1" dirty="0"/>
          </a:p>
          <a:p>
            <a:pPr>
              <a:buNone/>
            </a:pPr>
            <a:r>
              <a:rPr lang="en-US" sz="2000" dirty="0" smtClean="0"/>
              <a:t>1) </a:t>
            </a:r>
            <a:r>
              <a:rPr lang="en-US" sz="2000" dirty="0" err="1" smtClean="0"/>
              <a:t>drop_first</a:t>
            </a:r>
            <a:r>
              <a:rPr lang="en-US" sz="2000" dirty="0" smtClean="0"/>
              <a:t>=True is important to use, as it helps in reducing the extra column</a:t>
            </a:r>
          </a:p>
          <a:p>
            <a:pPr>
              <a:buNone/>
            </a:pPr>
            <a:r>
              <a:rPr lang="en-US" sz="2000" dirty="0" smtClean="0"/>
              <a:t>created during dummy variable creation. Hence it reduces the correlations</a:t>
            </a:r>
          </a:p>
          <a:p>
            <a:pPr>
              <a:buNone/>
            </a:pPr>
            <a:r>
              <a:rPr lang="en-US" sz="2000" dirty="0" smtClean="0"/>
              <a:t>created among dummy variables.</a:t>
            </a:r>
          </a:p>
          <a:p>
            <a:pPr>
              <a:buNone/>
            </a:pPr>
            <a:r>
              <a:rPr lang="en-US" sz="2000" dirty="0" smtClean="0"/>
              <a:t>2)Let’s say we have 3 types of values in Categorical column and we want to</a:t>
            </a:r>
          </a:p>
          <a:p>
            <a:pPr>
              <a:buNone/>
            </a:pPr>
            <a:r>
              <a:rPr lang="en-US" sz="2000" dirty="0" smtClean="0"/>
              <a:t>create dummy variable for that column. If one variable is not furnished and</a:t>
            </a:r>
          </a:p>
          <a:p>
            <a:pPr>
              <a:buNone/>
            </a:pPr>
            <a:r>
              <a:rPr lang="en-US" sz="2000" dirty="0" err="1" smtClean="0"/>
              <a:t>semi_furnished</a:t>
            </a:r>
            <a:r>
              <a:rPr lang="en-US" sz="2000" dirty="0" smtClean="0"/>
              <a:t>, then It is obvious unfurnished. So we do not need 3</a:t>
            </a:r>
            <a:r>
              <a:rPr lang="en-US" sz="2000" baseline="30000" dirty="0" smtClean="0"/>
              <a:t>rd</a:t>
            </a:r>
            <a:endParaRPr lang="en-US" sz="2000" dirty="0" smtClean="0"/>
          </a:p>
          <a:p>
            <a:pPr>
              <a:buNone/>
            </a:pPr>
            <a:r>
              <a:rPr lang="en-US" sz="2000" dirty="0" smtClean="0"/>
              <a:t>variable to identify the unfurnished</a:t>
            </a:r>
            <a:endParaRPr lang="en-US" sz="2000" dirty="0"/>
          </a:p>
        </p:txBody>
      </p:sp>
      <p:pic>
        <p:nvPicPr>
          <p:cNvPr id="2050" name="Picture 2"/>
          <p:cNvPicPr>
            <a:picLocks noChangeAspect="1" noChangeArrowheads="1"/>
          </p:cNvPicPr>
          <p:nvPr/>
        </p:nvPicPr>
        <p:blipFill>
          <a:blip r:embed="rId2"/>
          <a:srcRect/>
          <a:stretch>
            <a:fillRect/>
          </a:stretch>
        </p:blipFill>
        <p:spPr bwMode="auto">
          <a:xfrm>
            <a:off x="609600" y="4572000"/>
            <a:ext cx="7620000" cy="20574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9600"/>
            <a:ext cx="8229600" cy="4525963"/>
          </a:xfrm>
        </p:spPr>
        <p:txBody>
          <a:bodyPr>
            <a:normAutofit/>
          </a:bodyPr>
          <a:lstStyle/>
          <a:p>
            <a:pPr>
              <a:buNone/>
            </a:pPr>
            <a:r>
              <a:rPr lang="en-US" sz="2800" b="1" dirty="0" smtClean="0"/>
              <a:t>Q-3) Looking at the pair-plot among the numerical variables, which one has the highest correlation with the target variable</a:t>
            </a:r>
            <a:r>
              <a:rPr lang="en-US" sz="2800" b="1" dirty="0" smtClean="0"/>
              <a:t>?</a:t>
            </a:r>
          </a:p>
          <a:p>
            <a:pPr>
              <a:buNone/>
            </a:pPr>
            <a:endParaRPr lang="en-US" sz="2400" b="1" dirty="0" smtClean="0"/>
          </a:p>
          <a:p>
            <a:pPr>
              <a:buNone/>
            </a:pPr>
            <a:r>
              <a:rPr lang="en-US" sz="2000" dirty="0" smtClean="0"/>
              <a:t>Highest correlation exists between temp &amp; cnt, where-</a:t>
            </a:r>
          </a:p>
          <a:p>
            <a:r>
              <a:rPr lang="en-US" sz="2000" dirty="0" smtClean="0"/>
              <a:t>temp : temperature in Celsius</a:t>
            </a:r>
          </a:p>
          <a:p>
            <a:r>
              <a:rPr lang="en-US" sz="2000" dirty="0" smtClean="0"/>
              <a:t>cnt: count of total rental bikes including both casual and registered</a:t>
            </a:r>
            <a:endParaRPr lang="en-US" sz="2000" b="1" dirty="0"/>
          </a:p>
        </p:txBody>
      </p:sp>
      <p:pic>
        <p:nvPicPr>
          <p:cNvPr id="9218" name="Picture 2"/>
          <p:cNvPicPr>
            <a:picLocks noChangeAspect="1" noChangeArrowheads="1"/>
          </p:cNvPicPr>
          <p:nvPr/>
        </p:nvPicPr>
        <p:blipFill>
          <a:blip r:embed="rId2"/>
          <a:srcRect/>
          <a:stretch>
            <a:fillRect/>
          </a:stretch>
        </p:blipFill>
        <p:spPr bwMode="auto">
          <a:xfrm>
            <a:off x="3857625" y="3590925"/>
            <a:ext cx="5286375" cy="32670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381001"/>
            <a:ext cx="8229600" cy="4800600"/>
          </a:xfrm>
        </p:spPr>
        <p:txBody>
          <a:bodyPr>
            <a:normAutofit fontScale="92500" lnSpcReduction="20000"/>
          </a:bodyPr>
          <a:lstStyle/>
          <a:p>
            <a:pPr>
              <a:buNone/>
            </a:pPr>
            <a:r>
              <a:rPr lang="en-US" sz="2800" b="1" dirty="0" smtClean="0"/>
              <a:t>Q-4)How did you validate the assumptions of Linear Regression after building the model on the training set?</a:t>
            </a:r>
          </a:p>
          <a:p>
            <a:r>
              <a:rPr lang="en-US" sz="2200" dirty="0" smtClean="0"/>
              <a:t>The most important assumption of a linear regression model is that the errors are independent and normally distributed.-</a:t>
            </a:r>
          </a:p>
          <a:p>
            <a:r>
              <a:rPr lang="en-US" sz="2200" dirty="0" smtClean="0"/>
              <a:t>After we train a Linear Regression model on the given data set, if we run the training data through the same model, the model will generate predictions. Let’s call them y_test_pred. For each predicted value y_test_pred in the vector y_test_pred, there is a corresponding actual value y from the response variable vector y. In the above residual analysis we can the assumption is followed which is that the errors are independent and normally distributed</a:t>
            </a:r>
            <a:r>
              <a:rPr lang="en-US" sz="2200" dirty="0" smtClean="0"/>
              <a:t>.</a:t>
            </a:r>
          </a:p>
          <a:p>
            <a:r>
              <a:rPr lang="en-US" sz="2200" dirty="0" err="1" smtClean="0"/>
              <a:t>Multicollinearity</a:t>
            </a:r>
            <a:r>
              <a:rPr lang="en-US" sz="2200" dirty="0" smtClean="0"/>
              <a:t> saps the statistical power of the analysis, can cause the coefficients to switch signs, and makes it more difficult to specify the correct model</a:t>
            </a:r>
            <a:r>
              <a:rPr lang="en-US" sz="2200" dirty="0" smtClean="0"/>
              <a:t>. </a:t>
            </a:r>
            <a:r>
              <a:rPr lang="en-US" sz="2000" dirty="0" smtClean="0"/>
              <a:t>Variance inflation factor (VIF) is a measure of the amount of </a:t>
            </a:r>
            <a:r>
              <a:rPr lang="en-US" sz="2000" dirty="0" err="1" smtClean="0"/>
              <a:t>multicollinearity</a:t>
            </a:r>
            <a:r>
              <a:rPr lang="en-US" sz="2000" dirty="0" smtClean="0"/>
              <a:t> in a set of multiple </a:t>
            </a:r>
            <a:r>
              <a:rPr lang="en-US" sz="2200" dirty="0" smtClean="0"/>
              <a:t>regression variables</a:t>
            </a:r>
            <a:r>
              <a:rPr lang="en-US" sz="2200" dirty="0" smtClean="0"/>
              <a:t>. More the</a:t>
            </a:r>
            <a:r>
              <a:rPr lang="en-US" sz="2200" dirty="0" smtClean="0"/>
              <a:t> VIF increases, the less reliable your regression results are going to be.  VIF value should be below 5 to prove if there is no </a:t>
            </a:r>
            <a:r>
              <a:rPr lang="en-US" sz="2200" dirty="0" err="1" smtClean="0"/>
              <a:t>multicollinearity</a:t>
            </a:r>
            <a:r>
              <a:rPr lang="en-US" sz="2200" dirty="0" smtClean="0"/>
              <a:t> among </a:t>
            </a:r>
            <a:r>
              <a:rPr lang="en-US" sz="2200" dirty="0" smtClean="0"/>
              <a:t>indicators which is in the </a:t>
            </a:r>
            <a:r>
              <a:rPr lang="en-US" sz="2200" dirty="0" err="1" smtClean="0"/>
              <a:t>cse</a:t>
            </a:r>
            <a:r>
              <a:rPr lang="en-US" sz="2200" dirty="0" smtClean="0"/>
              <a:t> of our model.</a:t>
            </a:r>
          </a:p>
          <a:p>
            <a:pPr>
              <a:buNone/>
            </a:pP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57200" y="685800"/>
            <a:ext cx="2819400" cy="3028950"/>
          </a:xfrm>
          <a:prstGeom prst="rect">
            <a:avLst/>
          </a:prstGeom>
          <a:noFill/>
          <a:ln w="9525">
            <a:noFill/>
            <a:miter lim="800000"/>
            <a:headEnd/>
            <a:tailEnd/>
          </a:ln>
          <a:effectLst/>
        </p:spPr>
      </p:pic>
      <p:sp>
        <p:nvSpPr>
          <p:cNvPr id="5" name="TextBox 4"/>
          <p:cNvSpPr txBox="1"/>
          <p:nvPr/>
        </p:nvSpPr>
        <p:spPr>
          <a:xfrm>
            <a:off x="533400" y="4038600"/>
            <a:ext cx="3352800" cy="646331"/>
          </a:xfrm>
          <a:prstGeom prst="rect">
            <a:avLst/>
          </a:prstGeom>
          <a:noFill/>
        </p:spPr>
        <p:txBody>
          <a:bodyPr wrap="square" rtlCol="0">
            <a:spAutoFit/>
          </a:bodyPr>
          <a:lstStyle/>
          <a:p>
            <a:pPr algn="ctr"/>
            <a:r>
              <a:rPr lang="en-US" dirty="0"/>
              <a:t>All the variables have VIF less than 5 and it's perfect!</a:t>
            </a:r>
          </a:p>
        </p:txBody>
      </p:sp>
      <p:pic>
        <p:nvPicPr>
          <p:cNvPr id="3075" name="Picture 3"/>
          <p:cNvPicPr>
            <a:picLocks noChangeAspect="1" noChangeArrowheads="1"/>
          </p:cNvPicPr>
          <p:nvPr/>
        </p:nvPicPr>
        <p:blipFill>
          <a:blip r:embed="rId3"/>
          <a:srcRect/>
          <a:stretch>
            <a:fillRect/>
          </a:stretch>
        </p:blipFill>
        <p:spPr bwMode="auto">
          <a:xfrm>
            <a:off x="3962400" y="533400"/>
            <a:ext cx="4886325" cy="3429000"/>
          </a:xfrm>
          <a:prstGeom prst="rect">
            <a:avLst/>
          </a:prstGeom>
          <a:noFill/>
          <a:ln w="9525">
            <a:noFill/>
            <a:miter lim="800000"/>
            <a:headEnd/>
            <a:tailEnd/>
          </a:ln>
          <a:effectLst/>
        </p:spPr>
      </p:pic>
      <p:sp>
        <p:nvSpPr>
          <p:cNvPr id="7" name="TextBox 6"/>
          <p:cNvSpPr txBox="1"/>
          <p:nvPr/>
        </p:nvSpPr>
        <p:spPr>
          <a:xfrm>
            <a:off x="4724400" y="3886200"/>
            <a:ext cx="3429000" cy="1200329"/>
          </a:xfrm>
          <a:prstGeom prst="rect">
            <a:avLst/>
          </a:prstGeom>
          <a:noFill/>
        </p:spPr>
        <p:txBody>
          <a:bodyPr wrap="square" rtlCol="0">
            <a:spAutoFit/>
          </a:bodyPr>
          <a:lstStyle/>
          <a:p>
            <a:r>
              <a:rPr lang="en-US" dirty="0" smtClean="0"/>
              <a:t>In the above residual analysis we can the assumption is followed which is that the errors are independent and normally distributed.</a:t>
            </a:r>
            <a:endParaRPr lang="en-US" dirty="0"/>
          </a:p>
        </p:txBody>
      </p:sp>
      <p:sp>
        <p:nvSpPr>
          <p:cNvPr id="8" name="TextBox 7"/>
          <p:cNvSpPr txBox="1"/>
          <p:nvPr/>
        </p:nvSpPr>
        <p:spPr>
          <a:xfrm>
            <a:off x="762000" y="4800600"/>
            <a:ext cx="8001000" cy="1754326"/>
          </a:xfrm>
          <a:prstGeom prst="rect">
            <a:avLst/>
          </a:prstGeom>
          <a:solidFill>
            <a:schemeClr val="accent2">
              <a:lumMod val="20000"/>
              <a:lumOff val="80000"/>
            </a:schemeClr>
          </a:solidFill>
          <a:ln>
            <a:solidFill>
              <a:schemeClr val="bg2">
                <a:lumMod val="50000"/>
              </a:schemeClr>
            </a:solidFill>
          </a:ln>
        </p:spPr>
        <p:txBody>
          <a:bodyPr wrap="square" rtlCol="0">
            <a:spAutoFit/>
          </a:bodyPr>
          <a:lstStyle/>
          <a:p>
            <a:r>
              <a:rPr lang="en-US" b="1" dirty="0"/>
              <a:t>Assumptions of Linear Regression:</a:t>
            </a:r>
            <a:endParaRPr lang="en-US" dirty="0"/>
          </a:p>
          <a:p>
            <a:r>
              <a:rPr lang="en-US" dirty="0"/>
              <a:t>The error terms are normally distributed.</a:t>
            </a:r>
          </a:p>
          <a:p>
            <a:r>
              <a:rPr lang="en-US" dirty="0"/>
              <a:t>The training and testing accuracy are nearly equal hence there is no </a:t>
            </a:r>
            <a:r>
              <a:rPr lang="en-US" dirty="0" err="1"/>
              <a:t>Overfit</a:t>
            </a:r>
            <a:r>
              <a:rPr lang="en-US" dirty="0"/>
              <a:t>/</a:t>
            </a:r>
            <a:r>
              <a:rPr lang="en-US" dirty="0" err="1"/>
              <a:t>Underfit</a:t>
            </a:r>
            <a:r>
              <a:rPr lang="en-US" dirty="0"/>
              <a:t> situation.</a:t>
            </a:r>
          </a:p>
          <a:p>
            <a:r>
              <a:rPr lang="en-US" dirty="0"/>
              <a:t>The predicted values have linear relationship with the actual values.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990600"/>
            <a:ext cx="8229600" cy="4525963"/>
          </a:xfrm>
        </p:spPr>
        <p:txBody>
          <a:bodyPr>
            <a:normAutofit/>
          </a:bodyPr>
          <a:lstStyle/>
          <a:p>
            <a:pPr>
              <a:buNone/>
            </a:pPr>
            <a:r>
              <a:rPr lang="en-US" sz="2800" b="1" dirty="0" smtClean="0"/>
              <a:t>Q-5)Based on the final model, which are the top 3 features contributing significantly towards explaining the demand of the shared bikes?</a:t>
            </a:r>
          </a:p>
          <a:p>
            <a:pPr>
              <a:buNone/>
            </a:pPr>
            <a:endParaRPr lang="en-US" sz="2400" b="1" dirty="0" smtClean="0"/>
          </a:p>
          <a:p>
            <a:r>
              <a:rPr lang="en-US" sz="2400" dirty="0"/>
              <a:t>The top </a:t>
            </a:r>
            <a:r>
              <a:rPr lang="en-US" sz="2400" dirty="0" smtClean="0"/>
              <a:t>3 </a:t>
            </a:r>
            <a:r>
              <a:rPr lang="en-US" sz="2400" dirty="0"/>
              <a:t>variables that are seen effecting and benefitting the Bike Rental count are as follows:</a:t>
            </a:r>
          </a:p>
          <a:p>
            <a:r>
              <a:rPr lang="en-US" sz="2400" dirty="0"/>
              <a:t>1.)Spring season : -0.6842 </a:t>
            </a:r>
            <a:endParaRPr lang="en-US" sz="2400" dirty="0" smtClean="0"/>
          </a:p>
          <a:p>
            <a:r>
              <a:rPr lang="en-US" sz="2400" dirty="0" smtClean="0"/>
              <a:t>2</a:t>
            </a:r>
            <a:r>
              <a:rPr lang="en-US" sz="2400" dirty="0"/>
              <a:t>.)Temperature : 0.3999 </a:t>
            </a:r>
            <a:endParaRPr lang="en-US" sz="2400" dirty="0" smtClean="0"/>
          </a:p>
          <a:p>
            <a:r>
              <a:rPr lang="en-US" sz="2400" dirty="0" smtClean="0"/>
              <a:t>3</a:t>
            </a:r>
            <a:r>
              <a:rPr lang="en-US" sz="2400" dirty="0"/>
              <a:t>.)Mist : -0.3647</a:t>
            </a:r>
          </a:p>
          <a:p>
            <a:pPr>
              <a:buNone/>
            </a:pPr>
            <a:endParaRPr 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lstStyle/>
          <a:p>
            <a:r>
              <a:rPr lang="en-US" b="1" dirty="0" smtClean="0"/>
              <a:t>General Subjective Questions</a:t>
            </a:r>
            <a:endParaRPr lang="en-US" b="1" dirty="0"/>
          </a:p>
        </p:txBody>
      </p:sp>
      <p:sp>
        <p:nvSpPr>
          <p:cNvPr id="3" name="Content Placeholder 2"/>
          <p:cNvSpPr>
            <a:spLocks noGrp="1"/>
          </p:cNvSpPr>
          <p:nvPr>
            <p:ph sz="quarter" idx="1"/>
          </p:nvPr>
        </p:nvSpPr>
        <p:spPr>
          <a:xfrm>
            <a:off x="457200" y="1295400"/>
            <a:ext cx="8229600" cy="4525963"/>
          </a:xfrm>
        </p:spPr>
        <p:txBody>
          <a:bodyPr>
            <a:normAutofit fontScale="92500" lnSpcReduction="10000"/>
          </a:bodyPr>
          <a:lstStyle/>
          <a:p>
            <a:pPr>
              <a:buNone/>
            </a:pPr>
            <a:r>
              <a:rPr lang="en-US" sz="3000" b="1" dirty="0" smtClean="0"/>
              <a:t>Q-1)Explain the linear regression algorithm in detail</a:t>
            </a:r>
            <a:r>
              <a:rPr lang="en-US" sz="3000" b="1" dirty="0" smtClean="0"/>
              <a:t>.</a:t>
            </a:r>
          </a:p>
          <a:p>
            <a:pPr>
              <a:buNone/>
            </a:pPr>
            <a:endParaRPr lang="en-US" b="1" dirty="0" smtClean="0"/>
          </a:p>
          <a:p>
            <a:pPr>
              <a:buNone/>
            </a:pPr>
            <a:r>
              <a:rPr lang="en-US" sz="2400" dirty="0"/>
              <a:t>Linear regression is one of the very basic forms of machine learning where we train a model to predict the </a:t>
            </a:r>
            <a:r>
              <a:rPr lang="en-US" sz="2400" dirty="0" smtClean="0"/>
              <a:t>behavior </a:t>
            </a:r>
            <a:r>
              <a:rPr lang="en-US" sz="2400" dirty="0"/>
              <a:t>of your data based on some variables. In the case of linear regression as you can see the name suggests linear that means the two variables which are on the x-axis and y-axis should be linearly correlated</a:t>
            </a:r>
            <a:r>
              <a:rPr lang="en-US" sz="2400" dirty="0" smtClean="0"/>
              <a:t>.</a:t>
            </a:r>
          </a:p>
          <a:p>
            <a:r>
              <a:rPr lang="en-US" sz="2400" dirty="0"/>
              <a:t>Linear regression is used to predict a quantitative response Y from the predictor variable X.</a:t>
            </a:r>
          </a:p>
          <a:p>
            <a:r>
              <a:rPr lang="en-US" sz="2400" dirty="0"/>
              <a:t>Mathematically, we can write a linear regression equation as:</a:t>
            </a:r>
          </a:p>
          <a:p>
            <a:endParaRPr lang="en-US" sz="2400" dirty="0" smtClean="0"/>
          </a:p>
          <a:p>
            <a:r>
              <a:rPr lang="en-US" sz="2400" dirty="0" smtClean="0"/>
              <a:t>Where </a:t>
            </a:r>
            <a:r>
              <a:rPr lang="en-US" sz="2400" dirty="0"/>
              <a:t>a and b given by the formulas: </a:t>
            </a:r>
          </a:p>
          <a:p>
            <a:pPr>
              <a:buNone/>
            </a:pPr>
            <a:endParaRPr lang="en-US" b="1" dirty="0" smtClean="0"/>
          </a:p>
          <a:p>
            <a:pPr>
              <a:buNone/>
            </a:pPr>
            <a:endParaRPr lang="en-US" b="1" dirty="0"/>
          </a:p>
        </p:txBody>
      </p:sp>
      <p:pic>
        <p:nvPicPr>
          <p:cNvPr id="11266" name="Picture 2" descr="what-is-linear-regression-2&#10;"/>
          <p:cNvPicPr>
            <a:picLocks noChangeAspect="1" noChangeArrowheads="1"/>
          </p:cNvPicPr>
          <p:nvPr/>
        </p:nvPicPr>
        <p:blipFill>
          <a:blip r:embed="rId2"/>
          <a:srcRect/>
          <a:stretch>
            <a:fillRect/>
          </a:stretch>
        </p:blipFill>
        <p:spPr bwMode="auto">
          <a:xfrm>
            <a:off x="1447800" y="4800600"/>
            <a:ext cx="5600700" cy="352426"/>
          </a:xfrm>
          <a:prstGeom prst="rect">
            <a:avLst/>
          </a:prstGeom>
          <a:noFill/>
        </p:spPr>
      </p:pic>
      <p:pic>
        <p:nvPicPr>
          <p:cNvPr id="11268" name="Picture 4" descr="what-is-linear-regression-1"/>
          <p:cNvPicPr>
            <a:picLocks noChangeAspect="1" noChangeArrowheads="1"/>
          </p:cNvPicPr>
          <p:nvPr/>
        </p:nvPicPr>
        <p:blipFill>
          <a:blip r:embed="rId3"/>
          <a:srcRect/>
          <a:stretch>
            <a:fillRect/>
          </a:stretch>
        </p:blipFill>
        <p:spPr bwMode="auto">
          <a:xfrm>
            <a:off x="1600200" y="5562600"/>
            <a:ext cx="6353175" cy="11430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3400"/>
            <a:ext cx="8458200" cy="1143000"/>
          </a:xfrm>
        </p:spPr>
        <p:txBody>
          <a:bodyPr>
            <a:normAutofit fontScale="90000"/>
          </a:bodyPr>
          <a:lstStyle/>
          <a:p>
            <a:r>
              <a:rPr lang="en-US" sz="3600" b="1" dirty="0" smtClean="0"/>
              <a:t>The Four Assumptions of Linear Regression</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25963"/>
          </a:xfrm>
        </p:spPr>
        <p:txBody>
          <a:bodyPr>
            <a:normAutofit/>
          </a:bodyPr>
          <a:lstStyle/>
          <a:p>
            <a:r>
              <a:rPr lang="en-US" sz="2000" dirty="0" smtClean="0"/>
              <a:t>Linear </a:t>
            </a:r>
            <a:r>
              <a:rPr lang="en-US" sz="2000" dirty="0"/>
              <a:t>relationship: There exists a linear relationship between the independent variable, x, and the dependent variable, y.</a:t>
            </a:r>
          </a:p>
          <a:p>
            <a:r>
              <a:rPr lang="en-US" sz="2000" b="1" dirty="0"/>
              <a:t>Independence</a:t>
            </a:r>
            <a:r>
              <a:rPr lang="en-US" sz="2000" dirty="0"/>
              <a:t>: The residuals are independent. ...</a:t>
            </a:r>
          </a:p>
          <a:p>
            <a:r>
              <a:rPr lang="en-US" sz="2000" b="1" dirty="0" err="1"/>
              <a:t>Homoscedasticity</a:t>
            </a:r>
            <a:r>
              <a:rPr lang="en-US" sz="2000" dirty="0"/>
              <a:t>: The residuals have constant variance at every level of x.</a:t>
            </a:r>
          </a:p>
          <a:p>
            <a:r>
              <a:rPr lang="en-US" sz="2000" b="1" dirty="0"/>
              <a:t>Normality</a:t>
            </a:r>
            <a:r>
              <a:rPr lang="en-US" sz="2000" dirty="0"/>
              <a:t>: The residuals of the </a:t>
            </a:r>
            <a:r>
              <a:rPr lang="en-US" sz="2000" b="1" dirty="0"/>
              <a:t>model</a:t>
            </a:r>
            <a:r>
              <a:rPr lang="en-US" sz="2000" dirty="0"/>
              <a:t> are normally distributed.</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304800"/>
            <a:ext cx="8229600" cy="4525963"/>
          </a:xfrm>
        </p:spPr>
        <p:txBody>
          <a:bodyPr>
            <a:noAutofit/>
          </a:bodyPr>
          <a:lstStyle/>
          <a:p>
            <a:pPr>
              <a:buNone/>
            </a:pPr>
            <a:r>
              <a:rPr lang="en-US" sz="2800" b="1" dirty="0" smtClean="0"/>
              <a:t>Q-2)Explain the </a:t>
            </a:r>
            <a:r>
              <a:rPr lang="en-US" sz="2800" b="1" dirty="0" err="1" smtClean="0"/>
              <a:t>Anscombe’s</a:t>
            </a:r>
            <a:r>
              <a:rPr lang="en-US" sz="2800" b="1" dirty="0" smtClean="0"/>
              <a:t> quartet in detail.</a:t>
            </a:r>
          </a:p>
          <a:p>
            <a:pPr>
              <a:buNone/>
            </a:pPr>
            <a:endParaRPr lang="en-US" sz="2800" b="1" dirty="0" smtClean="0"/>
          </a:p>
          <a:p>
            <a:r>
              <a:rPr lang="en-US" sz="2000" b="1" dirty="0" err="1"/>
              <a:t>Anscombe's</a:t>
            </a:r>
            <a:r>
              <a:rPr lang="en-US" sz="2000" b="1" dirty="0"/>
              <a:t> Quartet</a:t>
            </a:r>
            <a:r>
              <a:rPr lang="en-US" sz="2000" dirty="0"/>
              <a:t> can be </a:t>
            </a:r>
            <a:r>
              <a:rPr lang="en-US" sz="2000" b="1" dirty="0"/>
              <a:t>defined</a:t>
            </a:r>
            <a:r>
              <a:rPr lang="en-US" sz="2000" dirty="0"/>
              <a:t> as a group of four data sets which are nearly identical in simple descriptive statistics, but there are some peculiarities in the dataset that fools the regression model if built. They have very different distributions and appear differently when plotted on scatter plots</a:t>
            </a:r>
            <a:r>
              <a:rPr lang="en-US" sz="2000" dirty="0" smtClean="0"/>
              <a:t>.</a:t>
            </a:r>
          </a:p>
          <a:p>
            <a:r>
              <a:rPr lang="en-US" sz="2000" b="1" dirty="0" err="1"/>
              <a:t>Anscombe’s</a:t>
            </a:r>
            <a:r>
              <a:rPr lang="en-US" sz="2000" b="1" dirty="0"/>
              <a:t> quartet</a:t>
            </a:r>
            <a:r>
              <a:rPr lang="en-US" sz="2000" dirty="0"/>
              <a:t> comprises four datasets that have nearly identical simple statistical properties, yet appear very different when graphed</a:t>
            </a:r>
            <a:r>
              <a:rPr lang="en-US" sz="2000" dirty="0" smtClean="0"/>
              <a:t>.</a:t>
            </a:r>
          </a:p>
          <a:p>
            <a:r>
              <a:rPr lang="en-US" sz="2000" dirty="0"/>
              <a:t>The quartet is still often used to illustrate the importance of looking at a set of data graphically before starting to analyze according to a particular type of relationship, and the inadequacy of basic statistic properties for describing realistic datasets.</a:t>
            </a:r>
            <a:endParaRPr lang="en-US" sz="20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04800"/>
            <a:ext cx="8229600" cy="4525963"/>
          </a:xfrm>
        </p:spPr>
        <p:txBody>
          <a:bodyPr>
            <a:normAutofit fontScale="25000" lnSpcReduction="20000"/>
          </a:bodyPr>
          <a:lstStyle/>
          <a:p>
            <a:pPr>
              <a:buNone/>
            </a:pPr>
            <a:r>
              <a:rPr lang="en-US" sz="11200" b="1" dirty="0" smtClean="0"/>
              <a:t>Q-3)What is Pearson’s R?</a:t>
            </a:r>
          </a:p>
          <a:p>
            <a:pPr>
              <a:buNone/>
            </a:pPr>
            <a:endParaRPr lang="en-US" sz="2400" b="1" dirty="0" smtClean="0"/>
          </a:p>
          <a:p>
            <a:pPr>
              <a:buNone/>
            </a:pPr>
            <a:r>
              <a:rPr lang="en-US" sz="7200" dirty="0"/>
              <a:t>Correlation between sets of data is a measure of how well </a:t>
            </a:r>
            <a:r>
              <a:rPr lang="en-US" sz="7200" dirty="0" smtClean="0"/>
              <a:t>they</a:t>
            </a:r>
          </a:p>
          <a:p>
            <a:pPr>
              <a:buNone/>
            </a:pPr>
            <a:r>
              <a:rPr lang="en-US" sz="7200" dirty="0" smtClean="0"/>
              <a:t>are </a:t>
            </a:r>
            <a:r>
              <a:rPr lang="en-US" sz="7200" dirty="0"/>
              <a:t>related. The most common measure of correlation in stats </a:t>
            </a:r>
            <a:r>
              <a:rPr lang="en-US" sz="7200" dirty="0" smtClean="0"/>
              <a:t>is</a:t>
            </a:r>
          </a:p>
          <a:p>
            <a:pPr>
              <a:buNone/>
            </a:pPr>
            <a:r>
              <a:rPr lang="en-US" sz="7200" dirty="0" smtClean="0"/>
              <a:t>the </a:t>
            </a:r>
            <a:r>
              <a:rPr lang="en-US" sz="7200" dirty="0"/>
              <a:t>Pearson Correlation. The full name is the </a:t>
            </a:r>
            <a:r>
              <a:rPr lang="en-US" sz="7200" b="1" dirty="0"/>
              <a:t>Pearson </a:t>
            </a:r>
            <a:r>
              <a:rPr lang="en-US" sz="7200" b="1" dirty="0" smtClean="0"/>
              <a:t>Product</a:t>
            </a:r>
          </a:p>
          <a:p>
            <a:pPr>
              <a:buNone/>
            </a:pPr>
            <a:r>
              <a:rPr lang="en-US" sz="7200" b="1" dirty="0" smtClean="0"/>
              <a:t>Moment </a:t>
            </a:r>
            <a:r>
              <a:rPr lang="en-US" sz="7200" b="1" dirty="0"/>
              <a:t>Correlation (PPMC)</a:t>
            </a:r>
            <a:r>
              <a:rPr lang="en-US" sz="7200" dirty="0"/>
              <a:t>. It shows the </a:t>
            </a:r>
            <a:r>
              <a:rPr lang="en-US" sz="7200" dirty="0" smtClean="0"/>
              <a:t>linear</a:t>
            </a:r>
          </a:p>
          <a:p>
            <a:pPr>
              <a:buNone/>
            </a:pPr>
            <a:r>
              <a:rPr lang="en-US" sz="7200" dirty="0" smtClean="0"/>
              <a:t>relationship</a:t>
            </a:r>
            <a:r>
              <a:rPr lang="en-US" sz="7200" dirty="0"/>
              <a:t> between two sets of data. </a:t>
            </a:r>
            <a:endParaRPr lang="en-US" sz="7200" dirty="0" smtClean="0"/>
          </a:p>
          <a:p>
            <a:pPr fontAlgn="base">
              <a:buNone/>
            </a:pPr>
            <a:r>
              <a:rPr lang="en-US" sz="7200" dirty="0" smtClean="0"/>
              <a:t>The potential </a:t>
            </a:r>
            <a:r>
              <a:rPr lang="en-US" sz="7200" dirty="0"/>
              <a:t>problems with Pearson </a:t>
            </a:r>
            <a:r>
              <a:rPr lang="en-US" sz="7200" dirty="0" smtClean="0"/>
              <a:t>correlation is that it</a:t>
            </a:r>
            <a:endParaRPr lang="en-US" sz="7200" dirty="0"/>
          </a:p>
          <a:p>
            <a:pPr fontAlgn="base">
              <a:buNone/>
            </a:pPr>
            <a:r>
              <a:rPr lang="en-US" sz="7200" dirty="0" smtClean="0"/>
              <a:t>is </a:t>
            </a:r>
            <a:r>
              <a:rPr lang="en-US" sz="7200" dirty="0"/>
              <a:t>not able to tell the difference between </a:t>
            </a:r>
            <a:r>
              <a:rPr lang="en-US" sz="7200" dirty="0" smtClean="0"/>
              <a:t>dependent</a:t>
            </a:r>
          </a:p>
          <a:p>
            <a:pPr fontAlgn="base">
              <a:buNone/>
            </a:pPr>
            <a:r>
              <a:rPr lang="en-US" sz="7200" dirty="0" smtClean="0"/>
              <a:t>variables</a:t>
            </a:r>
            <a:r>
              <a:rPr lang="en-US" sz="7200" dirty="0"/>
              <a:t> and independent </a:t>
            </a:r>
            <a:r>
              <a:rPr lang="en-US" sz="7200" dirty="0" smtClean="0"/>
              <a:t>variables</a:t>
            </a:r>
          </a:p>
          <a:p>
            <a:pPr fontAlgn="base">
              <a:buNone/>
            </a:pPr>
            <a:r>
              <a:rPr lang="en-US" sz="7200" dirty="0"/>
              <a:t>The range of the correlation coefficient </a:t>
            </a:r>
            <a:endParaRPr lang="en-US" sz="7200" dirty="0" smtClean="0"/>
          </a:p>
          <a:p>
            <a:pPr fontAlgn="base">
              <a:buNone/>
            </a:pPr>
            <a:r>
              <a:rPr lang="en-US" sz="7200" dirty="0" smtClean="0"/>
              <a:t>is </a:t>
            </a:r>
            <a:r>
              <a:rPr lang="en-US" sz="7200" dirty="0"/>
              <a:t>from -1 to 1</a:t>
            </a:r>
            <a:r>
              <a:rPr lang="en-US" sz="7200" dirty="0" smtClean="0"/>
              <a:t>.</a:t>
            </a:r>
          </a:p>
          <a:p>
            <a:pPr fontAlgn="base">
              <a:buNone/>
            </a:pPr>
            <a:endParaRPr lang="en-US" sz="7200" dirty="0" smtClean="0"/>
          </a:p>
          <a:p>
            <a:pPr fontAlgn="base">
              <a:buNone/>
            </a:pPr>
            <a:r>
              <a:rPr lang="en-US" sz="8000" b="1" i="1" dirty="0" smtClean="0"/>
              <a:t>Pearson </a:t>
            </a:r>
            <a:r>
              <a:rPr lang="en-US" sz="8000" b="1" i="1" dirty="0"/>
              <a:t>correlation </a:t>
            </a:r>
            <a:r>
              <a:rPr lang="en-US" sz="8000" b="1" i="1" dirty="0" smtClean="0"/>
              <a:t>coefficient:-</a:t>
            </a:r>
            <a:endParaRPr lang="en-US" sz="8000" b="1" dirty="0" smtClean="0"/>
          </a:p>
          <a:p>
            <a:pPr fontAlgn="base">
              <a:buNone/>
            </a:pPr>
            <a:endParaRPr lang="en-US" sz="7200" dirty="0" smtClean="0"/>
          </a:p>
          <a:p>
            <a:pPr fontAlgn="base">
              <a:buNone/>
            </a:pPr>
            <a:r>
              <a:rPr lang="en-US" sz="7200" dirty="0"/>
              <a:t>Two other formulas are commonly used: the sample correlation coefficient and </a:t>
            </a:r>
            <a:r>
              <a:rPr lang="en-US" sz="7200" dirty="0" smtClean="0"/>
              <a:t>the</a:t>
            </a:r>
          </a:p>
          <a:p>
            <a:pPr fontAlgn="base">
              <a:buNone/>
            </a:pPr>
            <a:r>
              <a:rPr lang="en-US" sz="7200" dirty="0" smtClean="0"/>
              <a:t>population </a:t>
            </a:r>
            <a:r>
              <a:rPr lang="en-US" sz="7200" dirty="0"/>
              <a:t>correlation </a:t>
            </a:r>
            <a:r>
              <a:rPr lang="en-US" sz="7200" dirty="0" smtClean="0"/>
              <a:t>coefficient</a:t>
            </a:r>
            <a:r>
              <a:rPr lang="en-US" sz="7200" dirty="0"/>
              <a:t>-</a:t>
            </a:r>
            <a:endParaRPr lang="en-US" sz="7200" dirty="0" smtClean="0"/>
          </a:p>
          <a:p>
            <a:pPr fontAlgn="base">
              <a:buNone/>
            </a:pPr>
            <a:endParaRPr lang="en-US" sz="7200" dirty="0" smtClean="0"/>
          </a:p>
          <a:p>
            <a:pPr fontAlgn="base">
              <a:buNone/>
            </a:pPr>
            <a:endParaRPr lang="en-US" sz="7200" dirty="0" smtClean="0"/>
          </a:p>
          <a:p>
            <a:pPr fontAlgn="base">
              <a:buNone/>
            </a:pPr>
            <a:endParaRPr lang="en-US" sz="7200" dirty="0"/>
          </a:p>
          <a:p>
            <a:pPr fontAlgn="base">
              <a:buNone/>
            </a:pPr>
            <a:endParaRPr lang="en-US" sz="7200" dirty="0" smtClean="0"/>
          </a:p>
          <a:p>
            <a:pPr fontAlgn="base">
              <a:buNone/>
            </a:pPr>
            <a:endParaRPr lang="en-US" sz="7200" dirty="0"/>
          </a:p>
          <a:p>
            <a:pPr>
              <a:buNone/>
            </a:pPr>
            <a:endParaRPr lang="en-US" sz="2400" b="1" dirty="0"/>
          </a:p>
        </p:txBody>
      </p:sp>
      <p:pic>
        <p:nvPicPr>
          <p:cNvPr id="32770" name="Picture 2" descr="pearsons correlation coefficient"/>
          <p:cNvPicPr>
            <a:picLocks noChangeAspect="1" noChangeArrowheads="1"/>
          </p:cNvPicPr>
          <p:nvPr/>
        </p:nvPicPr>
        <p:blipFill>
          <a:blip r:embed="rId2"/>
          <a:srcRect/>
          <a:stretch>
            <a:fillRect/>
          </a:stretch>
        </p:blipFill>
        <p:spPr bwMode="auto">
          <a:xfrm>
            <a:off x="4343400" y="3124200"/>
            <a:ext cx="3352800" cy="1286256"/>
          </a:xfrm>
          <a:prstGeom prst="rect">
            <a:avLst/>
          </a:prstGeom>
          <a:noFill/>
        </p:spPr>
      </p:pic>
      <p:pic>
        <p:nvPicPr>
          <p:cNvPr id="32772" name="Picture 4" descr="https://www.statisticshowto.com/wp-content/uploads/2012/12/sample-correlation-coefficient.png"/>
          <p:cNvPicPr>
            <a:picLocks noChangeAspect="1" noChangeArrowheads="1"/>
          </p:cNvPicPr>
          <p:nvPr/>
        </p:nvPicPr>
        <p:blipFill>
          <a:blip r:embed="rId3"/>
          <a:srcRect/>
          <a:stretch>
            <a:fillRect/>
          </a:stretch>
        </p:blipFill>
        <p:spPr bwMode="auto">
          <a:xfrm>
            <a:off x="1524000" y="5486400"/>
            <a:ext cx="1219200" cy="533401"/>
          </a:xfrm>
          <a:prstGeom prst="rect">
            <a:avLst/>
          </a:prstGeom>
          <a:noFill/>
        </p:spPr>
      </p:pic>
      <p:sp>
        <p:nvSpPr>
          <p:cNvPr id="6" name="TextBox 5"/>
          <p:cNvSpPr txBox="1"/>
          <p:nvPr/>
        </p:nvSpPr>
        <p:spPr>
          <a:xfrm>
            <a:off x="533400" y="5181600"/>
            <a:ext cx="3810000" cy="369332"/>
          </a:xfrm>
          <a:prstGeom prst="rect">
            <a:avLst/>
          </a:prstGeom>
          <a:noFill/>
        </p:spPr>
        <p:txBody>
          <a:bodyPr wrap="square" rtlCol="0">
            <a:spAutoFit/>
          </a:bodyPr>
          <a:lstStyle/>
          <a:p>
            <a:r>
              <a:rPr lang="en-US" b="1" dirty="0"/>
              <a:t>Sample correlation </a:t>
            </a:r>
            <a:r>
              <a:rPr lang="en-US" b="1" dirty="0" smtClean="0"/>
              <a:t>coefficient</a:t>
            </a:r>
            <a:endParaRPr lang="en-US" b="1" dirty="0"/>
          </a:p>
        </p:txBody>
      </p:sp>
      <p:sp>
        <p:nvSpPr>
          <p:cNvPr id="7" name="TextBox 6"/>
          <p:cNvSpPr txBox="1"/>
          <p:nvPr/>
        </p:nvSpPr>
        <p:spPr>
          <a:xfrm>
            <a:off x="304800" y="6019800"/>
            <a:ext cx="4572000" cy="584775"/>
          </a:xfrm>
          <a:prstGeom prst="rect">
            <a:avLst/>
          </a:prstGeom>
          <a:noFill/>
        </p:spPr>
        <p:txBody>
          <a:bodyPr wrap="square" rtlCol="0">
            <a:spAutoFit/>
          </a:bodyPr>
          <a:lstStyle/>
          <a:p>
            <a:r>
              <a:rPr lang="en-US" sz="1600" dirty="0" err="1"/>
              <a:t>S</a:t>
            </a:r>
            <a:r>
              <a:rPr lang="en-US" sz="1600" baseline="-25000" dirty="0" err="1"/>
              <a:t>x</a:t>
            </a:r>
            <a:r>
              <a:rPr lang="en-US" sz="1600" dirty="0"/>
              <a:t> and </a:t>
            </a:r>
            <a:r>
              <a:rPr lang="en-US" sz="1600" dirty="0" err="1"/>
              <a:t>s</a:t>
            </a:r>
            <a:r>
              <a:rPr lang="en-US" sz="1600" baseline="-25000" dirty="0" err="1"/>
              <a:t>y</a:t>
            </a:r>
            <a:r>
              <a:rPr lang="en-US" sz="1600" dirty="0"/>
              <a:t> are the sample standard deviations, and </a:t>
            </a:r>
            <a:r>
              <a:rPr lang="en-US" sz="1600" dirty="0" err="1"/>
              <a:t>s</a:t>
            </a:r>
            <a:r>
              <a:rPr lang="en-US" sz="1600" baseline="-25000" dirty="0" err="1"/>
              <a:t>xy</a:t>
            </a:r>
            <a:r>
              <a:rPr lang="en-US" sz="1600" dirty="0"/>
              <a:t> is the sample covariance.</a:t>
            </a:r>
          </a:p>
        </p:txBody>
      </p:sp>
      <p:sp>
        <p:nvSpPr>
          <p:cNvPr id="8" name="TextBox 7"/>
          <p:cNvSpPr txBox="1"/>
          <p:nvPr/>
        </p:nvSpPr>
        <p:spPr>
          <a:xfrm>
            <a:off x="5029200" y="5105401"/>
            <a:ext cx="4114800" cy="646331"/>
          </a:xfrm>
          <a:prstGeom prst="rect">
            <a:avLst/>
          </a:prstGeom>
          <a:noFill/>
        </p:spPr>
        <p:txBody>
          <a:bodyPr wrap="square" rtlCol="0">
            <a:spAutoFit/>
          </a:bodyPr>
          <a:lstStyle/>
          <a:p>
            <a:r>
              <a:rPr lang="en-US" b="1" dirty="0"/>
              <a:t>Population correlation coefficient</a:t>
            </a:r>
          </a:p>
          <a:p>
            <a:endParaRPr lang="en-US" dirty="0"/>
          </a:p>
        </p:txBody>
      </p:sp>
      <p:pic>
        <p:nvPicPr>
          <p:cNvPr id="32774" name="Picture 6" descr="https://www.statisticshowto.com/wp-content/uploads/2012/12/population-correlation-coefficient.png"/>
          <p:cNvPicPr>
            <a:picLocks noChangeAspect="1" noChangeArrowheads="1"/>
          </p:cNvPicPr>
          <p:nvPr/>
        </p:nvPicPr>
        <p:blipFill>
          <a:blip r:embed="rId4"/>
          <a:srcRect/>
          <a:stretch>
            <a:fillRect/>
          </a:stretch>
        </p:blipFill>
        <p:spPr bwMode="auto">
          <a:xfrm>
            <a:off x="5791200" y="5410200"/>
            <a:ext cx="1600200" cy="457200"/>
          </a:xfrm>
          <a:prstGeom prst="rect">
            <a:avLst/>
          </a:prstGeom>
          <a:noFill/>
        </p:spPr>
      </p:pic>
      <p:sp>
        <p:nvSpPr>
          <p:cNvPr id="10" name="TextBox 9"/>
          <p:cNvSpPr txBox="1"/>
          <p:nvPr/>
        </p:nvSpPr>
        <p:spPr>
          <a:xfrm>
            <a:off x="4800600" y="5780782"/>
            <a:ext cx="4724400" cy="1077218"/>
          </a:xfrm>
          <a:prstGeom prst="rect">
            <a:avLst/>
          </a:prstGeom>
          <a:noFill/>
        </p:spPr>
        <p:txBody>
          <a:bodyPr wrap="square" rtlCol="0">
            <a:spAutoFit/>
          </a:bodyPr>
          <a:lstStyle/>
          <a:p>
            <a:r>
              <a:rPr lang="en-US" sz="1600" dirty="0"/>
              <a:t>The population correlation coefficient uses </a:t>
            </a:r>
            <a:r>
              <a:rPr lang="en-US" sz="1600" dirty="0" err="1"/>
              <a:t>σ</a:t>
            </a:r>
            <a:r>
              <a:rPr lang="en-US" sz="1600" baseline="-25000" dirty="0" err="1"/>
              <a:t>x</a:t>
            </a:r>
            <a:r>
              <a:rPr lang="en-US" sz="1600" dirty="0"/>
              <a:t> and </a:t>
            </a:r>
            <a:r>
              <a:rPr lang="en-US" sz="1600" dirty="0" err="1"/>
              <a:t>σ</a:t>
            </a:r>
            <a:r>
              <a:rPr lang="en-US" sz="1600" baseline="-25000" dirty="0" err="1"/>
              <a:t>y</a:t>
            </a:r>
            <a:r>
              <a:rPr lang="en-US" sz="1600" dirty="0"/>
              <a:t> as the population standard deviations, and </a:t>
            </a:r>
            <a:r>
              <a:rPr lang="en-US" sz="1600" dirty="0" err="1"/>
              <a:t>σ</a:t>
            </a:r>
            <a:r>
              <a:rPr lang="en-US" sz="1600" baseline="-25000" dirty="0" err="1"/>
              <a:t>xy</a:t>
            </a:r>
            <a:r>
              <a:rPr lang="en-US" sz="1600" dirty="0"/>
              <a:t> as the population covariance.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81000"/>
            <a:ext cx="8229600" cy="4525963"/>
          </a:xfrm>
        </p:spPr>
        <p:txBody>
          <a:bodyPr>
            <a:normAutofit fontScale="77500" lnSpcReduction="20000"/>
          </a:bodyPr>
          <a:lstStyle/>
          <a:p>
            <a:pPr>
              <a:buNone/>
            </a:pPr>
            <a:r>
              <a:rPr lang="en-US" sz="3600" b="1" dirty="0" smtClean="0"/>
              <a:t>Q-4)What is scaling? Why is scaling performed? What is the difference between normalized scaling and standardized scaling?</a:t>
            </a:r>
          </a:p>
          <a:p>
            <a:pPr>
              <a:buNone/>
            </a:pPr>
            <a:endParaRPr lang="en-US" sz="2800" b="1" dirty="0" smtClean="0"/>
          </a:p>
          <a:p>
            <a:pPr>
              <a:buNone/>
            </a:pPr>
            <a:r>
              <a:rPr lang="en-US" sz="2800" dirty="0"/>
              <a:t>Feature scaling is a method used to normalize the range </a:t>
            </a:r>
            <a:r>
              <a:rPr lang="en-US" sz="2800" dirty="0" smtClean="0"/>
              <a:t>of</a:t>
            </a:r>
          </a:p>
          <a:p>
            <a:pPr>
              <a:buNone/>
            </a:pPr>
            <a:r>
              <a:rPr lang="en-US" sz="2800" dirty="0" smtClean="0"/>
              <a:t>Independent</a:t>
            </a:r>
          </a:p>
          <a:p>
            <a:pPr>
              <a:buNone/>
            </a:pPr>
            <a:r>
              <a:rPr lang="en-US" sz="2800" dirty="0" smtClean="0"/>
              <a:t>variables </a:t>
            </a:r>
            <a:r>
              <a:rPr lang="en-US" sz="2800" dirty="0"/>
              <a:t>or features of data. In data processing, it is </a:t>
            </a:r>
            <a:r>
              <a:rPr lang="en-US" sz="2800" dirty="0" smtClean="0"/>
              <a:t>also known as</a:t>
            </a:r>
          </a:p>
          <a:p>
            <a:pPr>
              <a:buNone/>
            </a:pPr>
            <a:r>
              <a:rPr lang="en-US" sz="2800" dirty="0" smtClean="0"/>
              <a:t>Data normalization </a:t>
            </a:r>
            <a:r>
              <a:rPr lang="en-US" sz="2800" dirty="0"/>
              <a:t>and is generally performed during the </a:t>
            </a:r>
            <a:r>
              <a:rPr lang="en-US" sz="2800" dirty="0" smtClean="0"/>
              <a:t>data</a:t>
            </a:r>
          </a:p>
          <a:p>
            <a:pPr>
              <a:buNone/>
            </a:pPr>
            <a:r>
              <a:rPr lang="en-US" sz="2800" dirty="0" smtClean="0"/>
              <a:t>preprocessing </a:t>
            </a:r>
            <a:r>
              <a:rPr lang="en-US" sz="2800" dirty="0"/>
              <a:t>step</a:t>
            </a:r>
            <a:r>
              <a:rPr lang="en-US" sz="2800" dirty="0" smtClean="0"/>
              <a:t>.</a:t>
            </a:r>
          </a:p>
          <a:p>
            <a:pPr fontAlgn="base">
              <a:buNone/>
            </a:pPr>
            <a:r>
              <a:rPr lang="en-US" sz="2800" dirty="0" smtClean="0"/>
              <a:t>In simple terms, </a:t>
            </a:r>
            <a:r>
              <a:rPr lang="en-US" sz="2800" dirty="0"/>
              <a:t>"normalization" typically means that the </a:t>
            </a:r>
            <a:r>
              <a:rPr lang="en-US" sz="2800" dirty="0" smtClean="0"/>
              <a:t>range of values are</a:t>
            </a:r>
          </a:p>
          <a:p>
            <a:pPr fontAlgn="base">
              <a:buNone/>
            </a:pPr>
            <a:r>
              <a:rPr lang="en-US" sz="2800" dirty="0" smtClean="0"/>
              <a:t>"normalized </a:t>
            </a:r>
            <a:r>
              <a:rPr lang="en-US" sz="2800" dirty="0"/>
              <a:t>to be from 0.0 to 1.0". "Standardization" typically </a:t>
            </a:r>
            <a:r>
              <a:rPr lang="en-US" sz="2800" dirty="0" smtClean="0"/>
              <a:t>means</a:t>
            </a:r>
          </a:p>
          <a:p>
            <a:pPr fontAlgn="base">
              <a:buNone/>
            </a:pPr>
            <a:r>
              <a:rPr lang="en-US" sz="2800" dirty="0" smtClean="0"/>
              <a:t>that the range </a:t>
            </a:r>
            <a:r>
              <a:rPr lang="en-US" sz="2800" dirty="0"/>
              <a:t>of values are "standardized" to measure how </a:t>
            </a:r>
            <a:r>
              <a:rPr lang="en-US" sz="2800" dirty="0" smtClean="0"/>
              <a:t>many standard Deviations the </a:t>
            </a:r>
            <a:r>
              <a:rPr lang="en-US" sz="2800" dirty="0"/>
              <a:t>value is from its mean. </a:t>
            </a:r>
            <a:endParaRPr lang="en-US" sz="2800" dirty="0" smtClean="0"/>
          </a:p>
          <a:p>
            <a:pPr>
              <a:buNone/>
            </a:pP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685800"/>
            <a:ext cx="8229600" cy="4525963"/>
          </a:xfrm>
        </p:spPr>
        <p:txBody>
          <a:bodyPr>
            <a:normAutofit fontScale="92500" lnSpcReduction="10000"/>
          </a:bodyPr>
          <a:lstStyle/>
          <a:p>
            <a:pPr>
              <a:buNone/>
            </a:pPr>
            <a:r>
              <a:rPr lang="en-US" sz="3000" b="1" dirty="0" smtClean="0"/>
              <a:t>Q-5)You </a:t>
            </a:r>
            <a:r>
              <a:rPr lang="en-US" sz="3000" b="1" dirty="0" smtClean="0"/>
              <a:t>might have observed that sometimes the value of VIF is infinite. Why does this happen?</a:t>
            </a:r>
          </a:p>
          <a:p>
            <a:endParaRPr lang="en-US" b="1" dirty="0" smtClean="0"/>
          </a:p>
          <a:p>
            <a:pPr>
              <a:buNone/>
            </a:pPr>
            <a:r>
              <a:rPr lang="en-US" sz="2200" dirty="0"/>
              <a:t>An infinite VIF value indicates that </a:t>
            </a:r>
            <a:r>
              <a:rPr lang="en-US" sz="2200" dirty="0" smtClean="0"/>
              <a:t>the</a:t>
            </a:r>
          </a:p>
          <a:p>
            <a:pPr>
              <a:buNone/>
            </a:pPr>
            <a:r>
              <a:rPr lang="en-US" sz="2200" dirty="0" smtClean="0"/>
              <a:t>corresponding </a:t>
            </a:r>
            <a:r>
              <a:rPr lang="en-US" sz="2200" dirty="0"/>
              <a:t>variable may be </a:t>
            </a:r>
            <a:r>
              <a:rPr lang="en-US" sz="2200" dirty="0" smtClean="0"/>
              <a:t>expressed</a:t>
            </a:r>
          </a:p>
          <a:p>
            <a:pPr>
              <a:buNone/>
            </a:pPr>
            <a:r>
              <a:rPr lang="en-US" sz="2200" dirty="0" smtClean="0"/>
              <a:t>exactly </a:t>
            </a:r>
            <a:r>
              <a:rPr lang="en-US" sz="2200" dirty="0"/>
              <a:t>by a linear combination of </a:t>
            </a:r>
            <a:r>
              <a:rPr lang="en-US" sz="2200" dirty="0" smtClean="0"/>
              <a:t>other</a:t>
            </a:r>
          </a:p>
          <a:p>
            <a:pPr>
              <a:buNone/>
            </a:pPr>
            <a:r>
              <a:rPr lang="en-US" sz="2200" dirty="0" smtClean="0"/>
              <a:t>variables </a:t>
            </a:r>
            <a:r>
              <a:rPr lang="en-US" sz="2200" dirty="0"/>
              <a:t>(which show an infinite VIF as well</a:t>
            </a:r>
            <a:r>
              <a:rPr lang="en-US" sz="2200" dirty="0" smtClean="0"/>
              <a:t>)</a:t>
            </a:r>
          </a:p>
          <a:p>
            <a:pPr>
              <a:buNone/>
            </a:pPr>
            <a:r>
              <a:rPr lang="en-US" sz="2200" dirty="0" smtClean="0"/>
              <a:t>In other words </a:t>
            </a:r>
            <a:r>
              <a:rPr lang="en-US" sz="2200" dirty="0"/>
              <a:t>If there is perfect </a:t>
            </a:r>
            <a:r>
              <a:rPr lang="en-US" sz="2200" dirty="0" smtClean="0"/>
              <a:t>correlation,</a:t>
            </a:r>
          </a:p>
          <a:p>
            <a:pPr>
              <a:buNone/>
            </a:pPr>
            <a:r>
              <a:rPr lang="en-US" sz="2200" dirty="0" smtClean="0"/>
              <a:t>then</a:t>
            </a:r>
            <a:r>
              <a:rPr lang="en-US" sz="2200" dirty="0"/>
              <a:t> VIF = infinity. A large value of VIF indicates </a:t>
            </a:r>
            <a:r>
              <a:rPr lang="en-US" sz="2200" dirty="0" smtClean="0"/>
              <a:t>that there is a</a:t>
            </a:r>
            <a:r>
              <a:rPr lang="en-US" sz="2200" dirty="0" smtClean="0"/>
              <a:t> </a:t>
            </a:r>
            <a:r>
              <a:rPr lang="en-US" sz="2200" dirty="0" smtClean="0"/>
              <a:t>correlation </a:t>
            </a:r>
            <a:r>
              <a:rPr lang="en-US" sz="2200" dirty="0"/>
              <a:t>between the variables. If the VIF is 4, this </a:t>
            </a:r>
            <a:r>
              <a:rPr lang="en-US" sz="2200" dirty="0" smtClean="0"/>
              <a:t>means</a:t>
            </a:r>
          </a:p>
          <a:p>
            <a:pPr>
              <a:buNone/>
            </a:pPr>
            <a:r>
              <a:rPr lang="en-US" sz="2200" dirty="0" smtClean="0"/>
              <a:t>that </a:t>
            </a:r>
            <a:r>
              <a:rPr lang="en-US" sz="2200" dirty="0"/>
              <a:t>the variance of the model coefficient is inflated by </a:t>
            </a:r>
            <a:r>
              <a:rPr lang="en-US" sz="2200" dirty="0" smtClean="0"/>
              <a:t>factor</a:t>
            </a:r>
          </a:p>
          <a:p>
            <a:pPr>
              <a:buNone/>
            </a:pPr>
            <a:r>
              <a:rPr lang="en-US" sz="2200" dirty="0" smtClean="0"/>
              <a:t>of </a:t>
            </a:r>
            <a:r>
              <a:rPr lang="en-US" sz="2200" dirty="0"/>
              <a:t>4 due to the presence of multicollinearity.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381000"/>
            <a:ext cx="8229600" cy="6096000"/>
          </a:xfrm>
        </p:spPr>
        <p:txBody>
          <a:bodyPr>
            <a:normAutofit fontScale="25000" lnSpcReduction="20000"/>
          </a:bodyPr>
          <a:lstStyle/>
          <a:p>
            <a:pPr>
              <a:buNone/>
            </a:pPr>
            <a:r>
              <a:rPr lang="en-US" sz="11200" b="1" dirty="0" smtClean="0"/>
              <a:t>Q-6)What is a Q-Q plot? Explain the use and importance of a Q-Q plot in linear regression</a:t>
            </a:r>
          </a:p>
          <a:p>
            <a:pPr>
              <a:buNone/>
            </a:pPr>
            <a:endParaRPr lang="en-US" sz="5500" b="1" dirty="0"/>
          </a:p>
          <a:p>
            <a:pPr>
              <a:buNone/>
            </a:pPr>
            <a:r>
              <a:rPr lang="en-US" sz="8000" dirty="0"/>
              <a:t>Q</a:t>
            </a:r>
            <a:r>
              <a:rPr lang="en-US" sz="8000" dirty="0" smtClean="0"/>
              <a:t>-Q plots are used to find the type of </a:t>
            </a:r>
            <a:r>
              <a:rPr lang="en-US" sz="8000" dirty="0" smtClean="0"/>
              <a:t>distribution for </a:t>
            </a:r>
            <a:r>
              <a:rPr lang="en-US" sz="8000" dirty="0"/>
              <a:t>a random variable whether it be a Gaussian </a:t>
            </a:r>
            <a:endParaRPr lang="en-US" sz="8000" dirty="0" smtClean="0"/>
          </a:p>
          <a:p>
            <a:pPr>
              <a:buNone/>
            </a:pPr>
            <a:r>
              <a:rPr lang="en-US" sz="8000" dirty="0" smtClean="0"/>
              <a:t>Distribution</a:t>
            </a:r>
            <a:r>
              <a:rPr lang="en-US" sz="8000" dirty="0"/>
              <a:t>, Uniform Distribution, </a:t>
            </a:r>
            <a:r>
              <a:rPr lang="en-US" sz="8000" dirty="0" smtClean="0"/>
              <a:t>Exponential Distribution</a:t>
            </a:r>
            <a:r>
              <a:rPr lang="en-US" sz="8000" dirty="0"/>
              <a:t> or even Pareto Distribution, </a:t>
            </a:r>
            <a:r>
              <a:rPr lang="en-US" sz="8000" dirty="0" smtClean="0"/>
              <a:t>etc. You </a:t>
            </a:r>
            <a:r>
              <a:rPr lang="en-US" sz="8000" dirty="0"/>
              <a:t>can </a:t>
            </a:r>
            <a:r>
              <a:rPr lang="en-US" sz="8000" dirty="0" smtClean="0"/>
              <a:t>tell the </a:t>
            </a:r>
            <a:r>
              <a:rPr lang="en-US" sz="8000" dirty="0"/>
              <a:t>type of distribution using the power of the Q-Q </a:t>
            </a:r>
            <a:r>
              <a:rPr lang="en-US" sz="8000" dirty="0" smtClean="0"/>
              <a:t>plot just </a:t>
            </a:r>
            <a:r>
              <a:rPr lang="en-US" sz="8000" dirty="0"/>
              <a:t>by looking at the plot. In general, we are </a:t>
            </a:r>
            <a:r>
              <a:rPr lang="en-US" sz="8000" dirty="0" smtClean="0"/>
              <a:t>talking about</a:t>
            </a:r>
            <a:r>
              <a:rPr lang="en-US" sz="8000" dirty="0"/>
              <a:t> Normal </a:t>
            </a:r>
            <a:r>
              <a:rPr lang="en-US" sz="8000" dirty="0" smtClean="0"/>
              <a:t>distributions. So </a:t>
            </a:r>
            <a:r>
              <a:rPr lang="en-US" sz="8000" dirty="0"/>
              <a:t>we know how much of the data lies in the range of first </a:t>
            </a:r>
            <a:r>
              <a:rPr lang="en-US" sz="8000" dirty="0" smtClean="0"/>
              <a:t>standard deviation</a:t>
            </a:r>
            <a:r>
              <a:rPr lang="en-US" sz="8000" dirty="0"/>
              <a:t>, second standard deviation and third standard </a:t>
            </a:r>
            <a:endParaRPr lang="en-US" sz="8000" dirty="0" smtClean="0"/>
          </a:p>
          <a:p>
            <a:pPr>
              <a:buNone/>
            </a:pPr>
            <a:r>
              <a:rPr lang="en-US" sz="8000" dirty="0" smtClean="0"/>
              <a:t>     deviation</a:t>
            </a:r>
            <a:r>
              <a:rPr lang="en-US" sz="8000" dirty="0" smtClean="0"/>
              <a:t>  </a:t>
            </a:r>
            <a:r>
              <a:rPr lang="en-US" sz="8000" dirty="0" smtClean="0"/>
              <a:t>from </a:t>
            </a:r>
            <a:r>
              <a:rPr lang="en-US" sz="8000" dirty="0"/>
              <a:t>the mean. So knowing if a distribution is </a:t>
            </a:r>
            <a:r>
              <a:rPr lang="en-US" sz="8000" dirty="0" smtClean="0"/>
              <a:t> </a:t>
            </a:r>
            <a:r>
              <a:rPr lang="en-US" sz="8000" dirty="0" smtClean="0"/>
              <a:t>Normal </a:t>
            </a:r>
            <a:r>
              <a:rPr lang="en-US" sz="8000" dirty="0"/>
              <a:t>opens up new doors </a:t>
            </a:r>
            <a:r>
              <a:rPr lang="en-US" sz="8000" dirty="0" smtClean="0"/>
              <a:t>for</a:t>
            </a:r>
          </a:p>
          <a:p>
            <a:pPr>
              <a:buNone/>
            </a:pPr>
            <a:r>
              <a:rPr lang="en-US" sz="8000" dirty="0" smtClean="0"/>
              <a:t>     us </a:t>
            </a:r>
            <a:r>
              <a:rPr lang="en-US" sz="8000" dirty="0"/>
              <a:t>to experiment with the data </a:t>
            </a:r>
            <a:r>
              <a:rPr lang="en-US" sz="8000" dirty="0" smtClean="0"/>
              <a:t>easily</a:t>
            </a:r>
          </a:p>
          <a:p>
            <a:pPr>
              <a:buNone/>
            </a:pPr>
            <a:endParaRPr lang="en-US" dirty="0"/>
          </a:p>
          <a:p>
            <a:pPr>
              <a:buNone/>
            </a:pPr>
            <a:r>
              <a:rPr lang="en-US" sz="6400" b="1" dirty="0"/>
              <a:t>How does it work</a:t>
            </a:r>
            <a:r>
              <a:rPr lang="en-US" sz="6400" b="1" dirty="0" smtClean="0"/>
              <a:t>?</a:t>
            </a:r>
            <a:endParaRPr lang="en-US" sz="6400" dirty="0" smtClean="0"/>
          </a:p>
          <a:p>
            <a:pPr>
              <a:buNone/>
            </a:pPr>
            <a:r>
              <a:rPr lang="en-US" sz="6400" dirty="0"/>
              <a:t>If the points at the ends of the curve formed from the </a:t>
            </a:r>
            <a:r>
              <a:rPr lang="en-US" sz="6400" dirty="0" smtClean="0"/>
              <a:t>points</a:t>
            </a:r>
          </a:p>
          <a:p>
            <a:pPr>
              <a:buNone/>
            </a:pPr>
            <a:r>
              <a:rPr lang="en-US" sz="6400" dirty="0" smtClean="0"/>
              <a:t> are not </a:t>
            </a:r>
            <a:r>
              <a:rPr lang="en-US" sz="6400" dirty="0"/>
              <a:t>falling on a straight line but indeed </a:t>
            </a:r>
            <a:r>
              <a:rPr lang="en-US" sz="6400" dirty="0" smtClean="0"/>
              <a:t>are</a:t>
            </a:r>
          </a:p>
          <a:p>
            <a:pPr>
              <a:buNone/>
            </a:pPr>
            <a:r>
              <a:rPr lang="en-US" sz="6400" dirty="0" smtClean="0"/>
              <a:t>scattered significantly from </a:t>
            </a:r>
            <a:r>
              <a:rPr lang="en-US" sz="6400" dirty="0"/>
              <a:t>the positions then we cannot </a:t>
            </a:r>
            <a:endParaRPr lang="en-US" sz="6400" dirty="0" smtClean="0"/>
          </a:p>
          <a:p>
            <a:pPr>
              <a:buNone/>
            </a:pPr>
            <a:r>
              <a:rPr lang="en-US" sz="6400" dirty="0" smtClean="0"/>
              <a:t>conclude a </a:t>
            </a:r>
            <a:r>
              <a:rPr lang="en-US" sz="6400" dirty="0"/>
              <a:t>relationship between the x and y </a:t>
            </a:r>
            <a:r>
              <a:rPr lang="en-US" sz="6400" dirty="0" smtClean="0"/>
              <a:t>axes</a:t>
            </a:r>
          </a:p>
          <a:p>
            <a:pPr>
              <a:buNone/>
            </a:pPr>
            <a:r>
              <a:rPr lang="en-US" sz="6400" dirty="0" smtClean="0"/>
              <a:t>which </a:t>
            </a:r>
            <a:r>
              <a:rPr lang="en-US" sz="6400" dirty="0"/>
              <a:t>clearly signifies that our </a:t>
            </a:r>
            <a:r>
              <a:rPr lang="en-US" sz="6400" dirty="0" smtClean="0"/>
              <a:t>ordered values </a:t>
            </a:r>
            <a:r>
              <a:rPr lang="en-US" sz="6400" dirty="0"/>
              <a:t>which we </a:t>
            </a:r>
            <a:endParaRPr lang="en-US" sz="6400" dirty="0" smtClean="0"/>
          </a:p>
          <a:p>
            <a:pPr>
              <a:buNone/>
            </a:pPr>
            <a:r>
              <a:rPr lang="en-US" sz="6400" dirty="0" smtClean="0"/>
              <a:t>wanted  to </a:t>
            </a:r>
            <a:r>
              <a:rPr lang="en-US" sz="6400" dirty="0"/>
              <a:t>calculate are not Normally distributed.</a:t>
            </a:r>
          </a:p>
        </p:txBody>
      </p:sp>
      <p:pic>
        <p:nvPicPr>
          <p:cNvPr id="35842" name="Picture 2"/>
          <p:cNvPicPr>
            <a:picLocks noChangeAspect="1" noChangeArrowheads="1"/>
          </p:cNvPicPr>
          <p:nvPr/>
        </p:nvPicPr>
        <p:blipFill>
          <a:blip r:embed="rId2"/>
          <a:srcRect/>
          <a:stretch>
            <a:fillRect/>
          </a:stretch>
        </p:blipFill>
        <p:spPr bwMode="auto">
          <a:xfrm>
            <a:off x="5638801" y="3886201"/>
            <a:ext cx="3505199" cy="2971799"/>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49</TotalTime>
  <Words>868</Words>
  <Application>Microsoft Office PowerPoint</Application>
  <PresentationFormat>On-screen Show (4:3)</PresentationFormat>
  <Paragraphs>117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Equity</vt:lpstr>
      <vt:lpstr>Subjective Questions</vt:lpstr>
      <vt:lpstr>Assignment-based Subjective Questions</vt:lpstr>
      <vt:lpstr>Slide 3</vt:lpstr>
      <vt:lpstr>Slide 4</vt:lpstr>
      <vt:lpstr>Slide 5</vt:lpstr>
      <vt:lpstr>Slide 6</vt:lpstr>
      <vt:lpstr>Slide 7</vt:lpstr>
      <vt:lpstr>Slide 8</vt:lpstr>
      <vt:lpstr>General Subjective Questions</vt:lpstr>
      <vt:lpstr>The Four Assumptions of Linear Regression </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Subjective Questions</dc:title>
  <dc:creator>user</dc:creator>
  <cp:lastModifiedBy>user</cp:lastModifiedBy>
  <cp:revision>2</cp:revision>
  <dcterms:created xsi:type="dcterms:W3CDTF">2021-03-08T16:18:05Z</dcterms:created>
  <dcterms:modified xsi:type="dcterms:W3CDTF">2021-03-08T17:07:45Z</dcterms:modified>
</cp:coreProperties>
</file>